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8"/>
  </p:notesMasterIdLst>
  <p:handoutMasterIdLst>
    <p:handoutMasterId r:id="rId14"/>
  </p:handoutMasterIdLst>
  <p:sldIdLst>
    <p:sldId id="256" r:id="rId4"/>
    <p:sldId id="260" r:id="rId5"/>
    <p:sldId id="261" r:id="rId6"/>
    <p:sldId id="262" r:id="rId7"/>
    <p:sldId id="263" r:id="rId9"/>
    <p:sldId id="264" r:id="rId10"/>
    <p:sldId id="265" r:id="rId11"/>
    <p:sldId id="266" r:id="rId12"/>
    <p:sldId id="267" r:id="rId1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72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66.xml"/><Relationship Id="rId18" Type="http://schemas.openxmlformats.org/officeDocument/2006/relationships/tags" Target="../tags/tag65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+mn-lt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+mn-lt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+mn-lt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>
            <p:custDataLst>
              <p:tags r:id="rId12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>
            <p:custDataLst>
              <p:tags r:id="rId13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77.xml"/><Relationship Id="rId3" Type="http://schemas.openxmlformats.org/officeDocument/2006/relationships/image" Target="../media/image1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80.xml"/><Relationship Id="rId3" Type="http://schemas.openxmlformats.org/officeDocument/2006/relationships/image" Target="../media/image2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83.xml"/><Relationship Id="rId3" Type="http://schemas.openxmlformats.org/officeDocument/2006/relationships/image" Target="../media/image3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89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92.xml"/><Relationship Id="rId3" Type="http://schemas.openxmlformats.org/officeDocument/2006/relationships/image" Target="../media/image6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990600" y="1675765"/>
            <a:ext cx="10825480" cy="1184910"/>
          </a:xfrm>
        </p:spPr>
        <p:txBody>
          <a:bodyPr wrap="square">
            <a:normAutofit fontScale="90000"/>
          </a:bodyPr>
          <a:lstStyle/>
          <a:p>
            <a:r>
              <a:rPr lang="ru-RU" sz="4445" b="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Разработка базы данных для учёта </a:t>
            </a:r>
            <a:r>
              <a:rPr lang="en-US" altLang="en-US" sz="4445" b="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книг в библиотеке</a:t>
            </a:r>
            <a:endParaRPr lang="en-US" altLang="en-US" sz="4445" b="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2134235" y="0"/>
            <a:ext cx="8417560" cy="1675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Разработка, администрирование и защита баз данных</a:t>
            </a:r>
            <a:endParaRPr lang="ru-RU" altLang="en-US" sz="40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930275" y="5645785"/>
            <a:ext cx="6096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Производственная практика</a:t>
            </a:r>
            <a:br>
              <a:rPr lang="ru-RU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ru-RU" altLang="en-US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Яхонтов Егор Денисович</a:t>
            </a:r>
            <a:endParaRPr lang="ru-RU" altLang="en-US" sz="28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4966970" y="5766435"/>
            <a:ext cx="4359275" cy="558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ru-RU" sz="4000" u="sng" dirty="0">
                <a:effectLst/>
                <a:latin typeface="Times New Roman" panose="02020603050405020304" charset="0"/>
                <a:ea typeface="Times New Roman" panose="02020603050405020304" charset="0"/>
                <a:sym typeface="+mn-ea"/>
              </a:rPr>
              <a:t>ПМ. </a:t>
            </a:r>
            <a:r>
              <a:rPr lang="ru-RU" sz="4000" u="sng" dirty="0">
                <a:latin typeface="Times New Roman" panose="02020603050405020304" charset="0"/>
                <a:ea typeface="Times New Roman" panose="02020603050405020304" charset="0"/>
                <a:sym typeface="+mn-ea"/>
              </a:rPr>
              <a:t>11</a:t>
            </a:r>
            <a:r>
              <a:rPr lang="ru-RU" sz="4000" u="sng" dirty="0">
                <a:effectLst/>
                <a:latin typeface="Times New Roman" panose="02020603050405020304" charset="0"/>
                <a:ea typeface="Times New Roman" panose="02020603050405020304" charset="0"/>
                <a:sym typeface="+mn-ea"/>
              </a:rPr>
              <a:t> </a:t>
            </a:r>
            <a:endParaRPr lang="ru-RU" altLang="en-US" sz="4000" u="sng" dirty="0">
              <a:effectLst/>
              <a:latin typeface="Times New Roman" panose="02020603050405020304" charset="0"/>
              <a:ea typeface="Times New Roman" panose="02020603050405020304" charset="0"/>
              <a:sym typeface="+mn-ea"/>
            </a:endParaRPr>
          </a:p>
        </p:txBody>
      </p:sp>
      <p:sp>
        <p:nvSpPr>
          <p:cNvPr id="16" name="Текстовое поле 15"/>
          <p:cNvSpPr txBox="1"/>
          <p:nvPr/>
        </p:nvSpPr>
        <p:spPr>
          <a:xfrm>
            <a:off x="990600" y="3114040"/>
            <a:ext cx="8923655" cy="239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sz="3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Руководитель практики от организации: </a:t>
            </a:r>
            <a:r>
              <a:rPr lang="ru-RU" sz="3000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Зязин</a:t>
            </a:r>
            <a:r>
              <a:rPr lang="ru-RU" sz="3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Сергей Валерьевич</a:t>
            </a:r>
            <a:endParaRPr lang="ru-RU" sz="30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3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Руководитель практики от колледжа: Махнев Александр Анатольевич</a:t>
            </a:r>
            <a:endParaRPr lang="ru-RU" sz="30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3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Год: 2026г.</a:t>
            </a:r>
            <a:endParaRPr lang="ru-RU" altLang="en-US" sz="30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ru-RU" sz="4000" b="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Анализ предметной области</a:t>
            </a:r>
            <a:endParaRPr lang="ru-RU" altLang="en-US" sz="4000" b="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27660" y="2141855"/>
            <a:ext cx="10800080" cy="3727450"/>
          </a:xfrm>
        </p:spPr>
        <p:txBody>
          <a:bodyPr>
            <a:normAutofit fontScale="80000"/>
          </a:bodyPr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Назначение системы: автоматизация учёта, выдачи, возврата и контроля книжного фонда в библиотеке. Читатели могут брать книги через приложение или непосредственно в библиотеке.</a:t>
            </a:r>
            <a:br>
              <a:rPr lang="en-US" altLang="en-US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Основные бизнес-процессы: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Читатель просматривает доступные книги, выбирает интересующее издание и берёт книгу на определённый срок, указывая при необходимости жанр или автора.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Библиотекарь (администратор системы) регистрирует новых читателей, добавляет книги в библиотечный фонд, проверяет корректность данных о книгах и читателях, назначает сроки выдачи.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Администратор системы управляет библиотечным фондом, просматривает все выдачи книг, возвращает книги, формирует отчёты по популярности книг и списки должников.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Читатель может отслеживать список книг, взятых им на руках, контролировать сроки возврата и просматривать историю своих выдач.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95960" y="141160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Тема</a:t>
            </a:r>
            <a:r>
              <a:rPr lang="ru-RU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: Учёт книг в библиотеке</a:t>
            </a:r>
            <a:endParaRPr lang="en-US" altLang="ru-RU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ru-RU" sz="4000" b="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Цели и задачи</a:t>
            </a:r>
            <a:endParaRPr lang="ru-RU" altLang="en-US" sz="4000" b="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Цель: разработать базу данных и приложение для учёта книг в библиотеке.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Задачи: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провести анализ предметной области, выделить сущности и атрибуты;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спроектировать и нормализовать структуру БД;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реализовать физическую БД в 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MS SQL Server,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наполнить тестовыми данными;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разграничить доступ для ролей (читатель, администратор);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создать клиентское 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WPF-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приложение с 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CRUD-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операциями, поиском и просмотром истории выдач;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обеспечить резервное копирование и восстановление.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sz="4000" b="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Варианты использования системы</a:t>
            </a:r>
            <a:endParaRPr lang="ru-RU" altLang="en-US" sz="4000" b="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516380"/>
            <a:ext cx="8425180" cy="4034155"/>
          </a:xfrm>
        </p:spPr>
        <p:txBody>
          <a:bodyPr>
            <a:normAutofit fontScale="80000"/>
          </a:bodyPr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Читатель – пользователь библиотеки, который регистрируется в системе, авторизуется по 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email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и телефону, просматривает доступные книги, ищет книги по названию, берёт книги на 14 дней, просматривает свои книги на руках и контролирует сроки возврата.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Администратор – сотрудник библиотеки, который управляет библиотечным фондом (добавление, редактирование, удаление книг), просматривает всех читателей и все выдачи, возвращает книги, формирует отчёты по должникам и популярности книг, управляет справочниками (жанры, авторы).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Изображение 3" descr="dLNBRjDG4DtxAqPTWKIbkdblK15_0E83hCI4g7bKZhj022b9ALa44OhOWmGIsyHDQ9h4xY_C_14pZdrRJwe68JLNyRbppZpcn3tg-exddxQQLjDzxOFV0QzHV-D3hU6vLR_HQLlTuqRxnF6S5fmurMEdxhxqtpPTa6kdNM-wbkLK_Ou7U_WR5pJ02N_ckA9FU-1quONhr5pFX7p16QvnWI67zcb0lJWyebuS_ApMQh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0" y="360045"/>
            <a:ext cx="2821940" cy="63169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285" y="299040"/>
            <a:ext cx="10800000" cy="720000"/>
          </a:xfrm>
        </p:spPr>
        <p:txBody>
          <a:bodyPr>
            <a:normAutofit/>
          </a:bodyPr>
          <a:p>
            <a:r>
              <a:rPr lang="ru-RU" sz="4000" b="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Структура базы данных</a:t>
            </a:r>
            <a:endParaRPr lang="ru-RU" altLang="en-US" sz="4000" b="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8" name="Изображение 1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96990" y="1172845"/>
            <a:ext cx="5427345" cy="35636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Текстовое поле 3"/>
          <p:cNvSpPr txBox="1"/>
          <p:nvPr/>
        </p:nvSpPr>
        <p:spPr>
          <a:xfrm>
            <a:off x="291465" y="1101090"/>
            <a:ext cx="6214745" cy="457200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zh-CN" sz="16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readers – читатели библиотеки (идентификатор, фамилия, имя, отчество, дата рождения, адрес, телефон, email, дата регистрации, признак активности)</a:t>
            </a:r>
            <a:endParaRPr lang="en-US" altLang="zh-CN" sz="16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zh-CN" sz="16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books – книги библиотечного фонда (идентификатор, ISBN, название, жанр, год издания, издательство, количество страниц, общее количество экземпляров, доступное количество экземпляров)</a:t>
            </a:r>
            <a:endParaRPr lang="en-US" altLang="zh-CN" sz="16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zh-CN" sz="16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authors – авторы книг (идентификатор, фамилия, имя, отчество)</a:t>
            </a:r>
            <a:endParaRPr lang="en-US" altLang="zh-CN" sz="16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zh-CN" sz="16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genres – жанры книг (идентификатор, наименование жанра)</a:t>
            </a:r>
            <a:endParaRPr lang="en-US" altLang="zh-CN" sz="16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zh-CN" sz="16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book_authors – связь книг и авторов (идентификатор книги, идентификатор автора)</a:t>
            </a:r>
            <a:endParaRPr lang="en-US" altLang="zh-CN" sz="16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zh-CN" sz="16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book_loans – выдача книг читателям (идентификатор выдачи, книга, читатель, дата выдачи, плановая дата возврата, фактическая дата возврата, признак возврата, сумма штрафа)</a:t>
            </a:r>
            <a:endParaRPr lang="en-US" altLang="zh-CN" sz="16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zh-CN" sz="16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Связи: один-ко-многим (один читатель может иметь много выдач, одна книга может быть выдана много раз), многие-ко-многим (книги и авторы связываются через таблицу book_authors), целостность данных обеспечивается внешними ключами.</a:t>
            </a:r>
            <a:endParaRPr lang="en-US" altLang="zh-CN" sz="16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6506210" y="481076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ru-RU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ER-</a:t>
            </a:r>
            <a:r>
              <a:rPr lang="ru-RU" altLang="ru-RU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Диаграмма</a:t>
            </a:r>
            <a:endParaRPr lang="ru-RU" altLang="ru-RU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ru-RU" b="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Примеры запросов</a:t>
            </a:r>
            <a:endParaRPr lang="ru-RU" altLang="en-US" b="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403985"/>
            <a:ext cx="4150360" cy="4522470"/>
          </a:xfrm>
        </p:spPr>
        <p:txBody>
          <a:bodyPr>
            <a:normAutofit fontScale="80000"/>
          </a:bodyPr>
          <a:p>
            <a:pPr marL="0" indent="0">
              <a:buFont typeface="Arial" panose="020B0604020202020204" pitchFamily="34" charset="0"/>
              <a:buNone/>
            </a:pPr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Запросы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: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Список книг, доступных для выдачи (для читателя)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Поиск книг по названию (фильтрация)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Все выдачи для администратора с информацией о читателе и книге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Отчёт «Количество книг по статусам» (на руках / просрочено / доступно)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ru-RU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589689" y="5492135"/>
            <a:ext cx="6094602" cy="92202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ru-RU" dirty="0">
                <a:latin typeface="Consolas" panose="020B0609020204030204" pitchFamily="49" charset="0"/>
              </a:rPr>
              <a:t>SELECT book_id, title, available_copies</a:t>
            </a:r>
            <a:endParaRPr lang="en-US" altLang="ru-RU" dirty="0">
              <a:latin typeface="Consolas" panose="020B0609020204030204" pitchFamily="49" charset="0"/>
            </a:endParaRPr>
          </a:p>
          <a:p>
            <a:r>
              <a:rPr lang="en-US" altLang="ru-RU" dirty="0">
                <a:latin typeface="Consolas" panose="020B0609020204030204" pitchFamily="49" charset="0"/>
              </a:rPr>
              <a:t>FROM books</a:t>
            </a:r>
            <a:endParaRPr lang="en-US" altLang="ru-RU" dirty="0">
              <a:latin typeface="Consolas" panose="020B0609020204030204" pitchFamily="49" charset="0"/>
            </a:endParaRPr>
          </a:p>
          <a:p>
            <a:r>
              <a:rPr lang="en-US" altLang="ru-RU" dirty="0">
                <a:latin typeface="Consolas" panose="020B0609020204030204" pitchFamily="49" charset="0"/>
              </a:rPr>
              <a:t>WHERE available_copies &gt; 0;</a:t>
            </a:r>
            <a:endParaRPr lang="en-US" altLang="ru-RU" dirty="0">
              <a:latin typeface="Consolas" panose="020B0609020204030204" pitchFamily="49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730" y="1403985"/>
            <a:ext cx="3309620" cy="3308350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6995795" y="99758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Пример запроса с результатом</a:t>
            </a:r>
            <a:endParaRPr lang="ru-RU" altLang="en-US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 sz="4000" b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Доступ и аунтификация</a:t>
            </a:r>
            <a:endParaRPr lang="ru-RU" altLang="en-US" sz="4000" b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301750"/>
            <a:ext cx="5144135" cy="5328285"/>
          </a:xfrm>
        </p:spPr>
        <p:txBody>
          <a:bodyPr>
            <a:normAutofit fontScale="70000"/>
          </a:bodyPr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Основные принципы: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Регистрация доступна только для читателей (самостоятельная через публичную форму)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Администратора создаёт администратор на уровне базы данных (учётная запись 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admin / admin123)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Пароли читателей хранятся в открытом виде (телефон), в перспективе планируется хэширование по алгоритму 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SHA-256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Валидация: обязательность заполнения полей (фамилия, имя, 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email,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телефон), проверка уникальности 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email,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проверка формата 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email (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наличие @), проверка длины телефонного номера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Пользователи БД: 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library_admin (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полный доступ) и 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library_user (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ограниченный доступ). Аутентификация осуществляется через встроенную проверку подлинности 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Windows (Integrated Security).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Для администратора реализована отдельная проверка логина и пароля на уровне приложения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sz="4000" b="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Реализация клиентского приложения</a:t>
            </a:r>
            <a:endParaRPr lang="ru-RU" altLang="en-US" sz="4000" b="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301750"/>
            <a:ext cx="5734685" cy="4873625"/>
          </a:xfrm>
        </p:spPr>
        <p:txBody>
          <a:bodyPr>
            <a:normAutofit fontScale="70000"/>
          </a:bodyPr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Технологии: 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WPF, .NET 6.0, Microsoft.Data.SqlClient.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Функции по ролям: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altLang="en-US" b="1">
                <a:latin typeface="Times New Roman" panose="02020603050405020304" charset="0"/>
                <a:cs typeface="Times New Roman" panose="02020603050405020304" charset="0"/>
              </a:rPr>
              <a:t>1.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Читатель: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просмотр доступных книг, поиск, взятие книги, просмотр своих книг, контроль сроков возврата.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altLang="en-US" b="1"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Администратор: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- добавление, редактирование, удаление книг; просмотр читателей и выдач; возврат книг; формирование отчётов.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Дополнительно: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двойной клик для просмотра деталей;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подтверждение удаления;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стилизация интерфейса;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обновление данных.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Изображение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335" y="1261110"/>
            <a:ext cx="3461385" cy="264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Изображение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335" y="4003358"/>
            <a:ext cx="3460750" cy="264731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 sz="4000" b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ЗАКЛЮЧЕНИЕ</a:t>
            </a:r>
            <a:endParaRPr lang="ru-RU" altLang="en-US" sz="4000" b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301750"/>
            <a:ext cx="6554470" cy="4780915"/>
          </a:xfrm>
        </p:spPr>
        <p:txBody>
          <a:bodyPr>
            <a:normAutofit fontScale="70000"/>
          </a:bodyPr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В ходе выполнения производственной практики была спроектирована и реализована база данных для учёта книг в библиотеке, а также клиентское приложение на платформе 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WPF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 использованием 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SQL Server.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Решены следующие задачи: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- проведён анализ предметной области, выделены объекты и атрибуты;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- построена нормализованная 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ER-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модель, сгенерирован физический скрипт БД;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- разработана система ролей (читатель, администратор);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- реализованы операции 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CRUD,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поиск, просмотр истории выдач;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- выполнено резервное копирование и восстановление.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Приложение прошло тестирование на наборе из более чем 90 записей, показало корректную работу всех функций.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8129905" y="2866390"/>
            <a:ext cx="38881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QR</a:t>
            </a: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 на репозиторий с файлами по практике</a:t>
            </a:r>
            <a:endParaRPr lang="ru-RU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Изображение 4" descr="qr-c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815" y="3626485"/>
            <a:ext cx="2704465" cy="27044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6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2"/>
  <p:tag name="KSO_WM_TEMPLATE_THUMBS_INDEX" val="1、9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1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Your title here"/>
</p:tagLst>
</file>

<file path=ppt/tags/tag68.xml><?xml version="1.0" encoding="utf-8"?>
<p:tagLst xmlns:p="http://schemas.openxmlformats.org/presentationml/2006/main">
  <p:tag name="KSO_WM_SPECIAL_SOURCE" val="bdnull"/>
  <p:tag name="KSO_WM_SLIDE_ID" val="custom2023348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2"/>
  <p:tag name="KSO_WM_SLIDE_LAYOUT" val="a_f"/>
  <p:tag name="KSO_WM_SLIDE_LAYOUT_CNT" val="1_1"/>
  <p:tag name="KSO_WM_TEMPLATE_THUMBS_INDEX" val="1、9"/>
  <p:tag name="KSO_WM_SLIDE_THEME_ID" val="3321262"/>
  <p:tag name="KSO_WM_SLIDE_THEME_NAME" val="White Minimalist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8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9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5359</Words>
  <Application>WPS Presentation</Application>
  <PresentationFormat>宽屏</PresentationFormat>
  <Paragraphs>101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SimSun</vt:lpstr>
      <vt:lpstr>Wingdings</vt:lpstr>
      <vt:lpstr>Calibri Light</vt:lpstr>
      <vt:lpstr>Times New Roman</vt:lpstr>
      <vt:lpstr>quote-cjk-patch</vt:lpstr>
      <vt:lpstr>Segoe Print</vt:lpstr>
      <vt:lpstr>Consolas</vt:lpstr>
      <vt:lpstr>Lato</vt:lpstr>
      <vt:lpstr>Microsoft YaHei</vt:lpstr>
      <vt:lpstr>Arial Unicode MS</vt:lpstr>
      <vt:lpstr>Manrope ExtraBold</vt:lpstr>
      <vt:lpstr>Office Theme</vt:lpstr>
      <vt:lpstr>1_Office Theme</vt:lpstr>
      <vt:lpstr>Разработка базы данных для учёта книг в библиотеке</vt:lpstr>
      <vt:lpstr>Анализ предметной области</vt:lpstr>
      <vt:lpstr>Цели и задачи</vt:lpstr>
      <vt:lpstr>Варианты использования системы</vt:lpstr>
      <vt:lpstr>Структура базы данных</vt:lpstr>
      <vt:lpstr>Примеры запросов</vt:lpstr>
      <vt:lpstr>Доступ и аунтификация</vt:lpstr>
      <vt:lpstr>Реализация клиентского приложения</vt:lpstr>
      <vt:lpstr>ЗАКЛЮЧЕНИЕ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Илья</cp:lastModifiedBy>
  <cp:revision>8</cp:revision>
  <dcterms:created xsi:type="dcterms:W3CDTF">2025-07-23T00:59:00Z</dcterms:created>
  <dcterms:modified xsi:type="dcterms:W3CDTF">2026-05-25T19:42:38Z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1049-12.1.0.26372</vt:lpwstr>
  </property>
  <property fmtid="{D5CDD505-2E9C-101B-9397-08002B2CF9AE}" pid="3" name="ICV">
    <vt:lpwstr>DF36EF1E4E2F48EA9CFF83C016075DF4_13</vt:lpwstr>
  </property>
</Properties>
</file>